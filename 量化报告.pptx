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14"/>
  </p:notesMasterIdLst>
  <p:sldIdLst>
    <p:sldId id="256" r:id="rId5"/>
    <p:sldId id="261" r:id="rId6"/>
    <p:sldId id="262" r:id="rId7"/>
    <p:sldId id="267" r:id="rId8"/>
    <p:sldId id="268" r:id="rId9"/>
    <p:sldId id="269" r:id="rId10"/>
    <p:sldId id="270" r:id="rId11"/>
    <p:sldId id="271" r:id="rId12"/>
    <p:sldId id="272" r:id="rId13"/>
    <p:sldId id="273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1.jpe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image" Target="../media/image1.jpeg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image" Target="../media/image1.jpeg"/><Relationship Id="rId2" Type="http://schemas.openxmlformats.org/officeDocument/2006/relationships/tags" Target="../tags/tag23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image" Target="../media/image1.jpeg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3" hasCustomPrompt="1"/>
            <p:custDataLst>
              <p:tags r:id="rId2"/>
            </p:custDataLst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单击此处编辑副标题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34" b="9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50800" dist="50800" dir="5400000" sx="1000" sy="1000" algn="ctr" rotWithShape="0">
              <a:srgbClr val="000000">
                <a:alpha val="100000"/>
              </a:srgbClr>
            </a:outerShdw>
          </a:effectLst>
        </p:spPr>
      </p:pic>
      <p:sp>
        <p:nvSpPr>
          <p:cNvPr id="19" name="署名占位符 10"/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4395000" y="4203700"/>
            <a:ext cx="3402000" cy="5746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5"/>
            </p:custDataLst>
          </p:nvPr>
        </p:nvSpPr>
        <p:spPr>
          <a:xfrm>
            <a:off x="1238400" y="2514380"/>
            <a:ext cx="9712800" cy="1062000"/>
          </a:xfrm>
        </p:spPr>
        <p:txBody>
          <a:bodyPr wrap="square" anchor="ctr">
            <a:normAutofit/>
          </a:bodyPr>
          <a:lstStyle>
            <a:lvl1pPr algn="ctr">
              <a:lnSpc>
                <a:spcPct val="100000"/>
              </a:lnSpc>
              <a:defRPr sz="60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1238400" y="1884410"/>
            <a:ext cx="9712800" cy="4968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01749"/>
            <a:ext cx="10800000" cy="48736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图片 72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lum bright="6000"/>
          </a:blip>
          <a:stretch>
            <a:fillRect/>
          </a:stretch>
        </p:blipFill>
        <p:spPr>
          <a:xfrm flipV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8000 h 6858000"/>
              <a:gd name="connsiteX1" fmla="*/ 12192000 w 12192000"/>
              <a:gd name="connsiteY1" fmla="*/ 6858000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50800" dir="5400000" sx="1000" sy="1000" algn="ctr" rotWithShape="0">
              <a:srgbClr val="000000">
                <a:alpha val="100000"/>
              </a:srgbClr>
            </a:outerShdw>
          </a:effectLst>
        </p:spPr>
      </p:pic>
      <p:sp>
        <p:nvSpPr>
          <p:cNvPr id="2" name="矩形 1"/>
          <p:cNvSpPr/>
          <p:nvPr userDrawn="1">
            <p:custDataLst>
              <p:tags r:id="rId4"/>
            </p:custDataLst>
          </p:nvPr>
        </p:nvSpPr>
        <p:spPr>
          <a:xfrm rot="5400000">
            <a:off x="3736340" y="-3732530"/>
            <a:ext cx="4722495" cy="12190730"/>
          </a:xfrm>
          <a:prstGeom prst="rect">
            <a:avLst/>
          </a:prstGeom>
          <a:gradFill>
            <a:gsLst>
              <a:gs pos="100000">
                <a:srgbClr val="FFFFFF">
                  <a:alpha val="0"/>
                </a:srgbClr>
              </a:gs>
              <a:gs pos="20000">
                <a:srgbClr val="FFFF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114602" y="924183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1" lang="zh-CN" altLang="en-US" sz="60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lum bright="6000"/>
          </a:blip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50800" dist="50800" dir="5400000" sx="1000" sy="1000" algn="ctr" rotWithShape="0">
              <a:srgbClr val="000000">
                <a:alpha val="100000"/>
              </a:srgbClr>
            </a:outerShdw>
          </a:effectLst>
        </p:spPr>
      </p:pic>
      <p:cxnSp>
        <p:nvCxnSpPr>
          <p:cNvPr id="25" name="直接箭头连接符 24"/>
          <p:cNvCxnSpPr/>
          <p:nvPr userDrawn="1">
            <p:custDataLst>
              <p:tags r:id="rId4"/>
            </p:custDataLst>
          </p:nvPr>
        </p:nvCxnSpPr>
        <p:spPr>
          <a:xfrm>
            <a:off x="11235055" y="6189345"/>
            <a:ext cx="358140" cy="0"/>
          </a:xfrm>
          <a:prstGeom prst="straightConnector1">
            <a:avLst/>
          </a:prstGeom>
          <a:ln>
            <a:solidFill>
              <a:schemeClr val="bg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292225" y="2956560"/>
            <a:ext cx="9608185" cy="1104900"/>
          </a:xfrm>
        </p:spPr>
        <p:txBody>
          <a:bodyPr lIns="90000" tIns="46800" rIns="90000" bIns="46800" anchor="t" anchorCtr="0">
            <a:noAutofit/>
          </a:bodyPr>
          <a:lstStyle>
            <a:lvl1pPr algn="ctr">
              <a:defRPr sz="62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文本占位符 6"/>
          <p:cNvSpPr>
            <a:spLocks noGrp="1"/>
          </p:cNvSpPr>
          <p:nvPr>
            <p:ph type="body" idx="13" hasCustomPrompt="1"/>
            <p:custDataLst>
              <p:tags r:id="rId9"/>
            </p:custDataLst>
          </p:nvPr>
        </p:nvSpPr>
        <p:spPr>
          <a:xfrm>
            <a:off x="1291909" y="1419225"/>
            <a:ext cx="9608502" cy="1341120"/>
          </a:xfrm>
        </p:spPr>
        <p:txBody>
          <a:bodyPr wrap="none" anchor="b" anchorCtr="0">
            <a:noAutofit/>
          </a:bodyPr>
          <a:lstStyle>
            <a:lvl1pPr marL="0" indent="0" algn="ctr">
              <a:buNone/>
              <a:defRPr sz="6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副标题 9"/>
          <p:cNvSpPr>
            <a:spLocks noGrp="1"/>
          </p:cNvSpPr>
          <p:nvPr>
            <p:ph type="subTitle" idx="1" hasCustomPrompt="1"/>
            <p:custDataLst>
              <p:tags r:id="rId10"/>
            </p:custDataLst>
          </p:nvPr>
        </p:nvSpPr>
        <p:spPr>
          <a:xfrm>
            <a:off x="1292225" y="4157345"/>
            <a:ext cx="9608185" cy="631190"/>
          </a:xfrm>
        </p:spPr>
        <p:txBody>
          <a:bodyPr wrap="square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lum bright="6000"/>
          </a:blip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50800" dist="50800" dir="5400000" sx="1000" sy="1000" algn="ctr" rotWithShape="0">
              <a:srgbClr val="000000">
                <a:alpha val="100000"/>
              </a:srgbClr>
            </a:outerShdw>
          </a:effectLst>
        </p:spPr>
      </p:pic>
      <p:sp>
        <p:nvSpPr>
          <p:cNvPr id="2" name="矩形 1"/>
          <p:cNvSpPr/>
          <p:nvPr userDrawn="1">
            <p:custDataLst>
              <p:tags r:id="rId4"/>
            </p:custDataLst>
          </p:nvPr>
        </p:nvSpPr>
        <p:spPr>
          <a:xfrm rot="10800000">
            <a:off x="4545965" y="16510"/>
            <a:ext cx="7663180" cy="6841490"/>
          </a:xfrm>
          <a:prstGeom prst="rect">
            <a:avLst/>
          </a:prstGeom>
          <a:gradFill>
            <a:gsLst>
              <a:gs pos="100000">
                <a:srgbClr val="FFFFFF">
                  <a:alpha val="0"/>
                </a:srgbClr>
              </a:gs>
              <a:gs pos="0">
                <a:srgbClr val="FFFF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3994785" y="2691130"/>
            <a:ext cx="6904990" cy="1185545"/>
          </a:xfrm>
        </p:spPr>
        <p:txBody>
          <a:bodyPr wrap="square" anchor="t" anchorCtr="0">
            <a:normAutofit/>
          </a:bodyPr>
          <a:lstStyle>
            <a:lvl1pPr algn="r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6" name="日期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3994150" y="1730375"/>
            <a:ext cx="6905625" cy="666115"/>
          </a:xfrm>
        </p:spPr>
        <p:txBody>
          <a:bodyPr wrap="square"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日期</a:t>
            </a:r>
            <a:endParaRPr lang="zh-CN" altLang="en-US" dirty="0"/>
          </a:p>
        </p:txBody>
      </p:sp>
      <p:sp>
        <p:nvSpPr>
          <p:cNvPr id="8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498345" y="4085680"/>
            <a:ext cx="3402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90000" tIns="46800" rIns="90000" bIns="4680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7.xml"/><Relationship Id="rId16" Type="http://schemas.openxmlformats.org/officeDocument/2006/relationships/tags" Target="../tags/tag6.xml"/><Relationship Id="rId15" Type="http://schemas.openxmlformats.org/officeDocument/2006/relationships/tags" Target="../tags/tag5.xml"/><Relationship Id="rId14" Type="http://schemas.openxmlformats.org/officeDocument/2006/relationships/tags" Target="../tags/tag4.xml"/><Relationship Id="rId13" Type="http://schemas.openxmlformats.org/officeDocument/2006/relationships/tags" Target="../tags/tag3.xml"/><Relationship Id="rId12" Type="http://schemas.openxmlformats.org/officeDocument/2006/relationships/tags" Target="../tags/tag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0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9" Type="http://schemas.openxmlformats.org/officeDocument/2006/relationships/tags" Target="../tags/tag73.xml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任意多边形 6"/>
          <p:cNvSpPr/>
          <p:nvPr userDrawn="1">
            <p:custDataLst>
              <p:tags r:id="rId17"/>
            </p:custDataLst>
          </p:nvPr>
        </p:nvSpPr>
        <p:spPr>
          <a:xfrm>
            <a:off x="0" y="5713730"/>
            <a:ext cx="3426460" cy="11442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3301" h="4441">
                <a:moveTo>
                  <a:pt x="5025" y="0"/>
                </a:moveTo>
                <a:cubicBezTo>
                  <a:pt x="9242" y="0"/>
                  <a:pt x="12730" y="1925"/>
                  <a:pt x="13298" y="4425"/>
                </a:cubicBezTo>
                <a:lnTo>
                  <a:pt x="13301" y="4441"/>
                </a:lnTo>
                <a:lnTo>
                  <a:pt x="0" y="4441"/>
                </a:lnTo>
                <a:lnTo>
                  <a:pt x="0" y="1034"/>
                </a:lnTo>
                <a:lnTo>
                  <a:pt x="26" y="1022"/>
                </a:lnTo>
                <a:cubicBezTo>
                  <a:pt x="1420" y="380"/>
                  <a:pt x="3150" y="0"/>
                  <a:pt x="5025" y="0"/>
                </a:cubicBezTo>
                <a:close/>
              </a:path>
            </a:pathLst>
          </a:custGeom>
          <a:gradFill>
            <a:gsLst>
              <a:gs pos="100000">
                <a:srgbClr val="FFFFFF">
                  <a:alpha val="0"/>
                </a:srgbClr>
              </a:gs>
              <a:gs pos="0">
                <a:schemeClr val="bg1">
                  <a:lumMod val="85000"/>
                  <a:alpha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 userDrawn="1">
            <p:custDataLst>
              <p:tags r:id="rId18"/>
            </p:custDataLst>
          </p:nvPr>
        </p:nvSpPr>
        <p:spPr>
          <a:xfrm>
            <a:off x="10316210" y="3782060"/>
            <a:ext cx="1875790" cy="19316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2954" h="3944">
                <a:moveTo>
                  <a:pt x="2954" y="0"/>
                </a:moveTo>
                <a:lnTo>
                  <a:pt x="2954" y="3944"/>
                </a:lnTo>
                <a:lnTo>
                  <a:pt x="2945" y="3943"/>
                </a:lnTo>
                <a:cubicBezTo>
                  <a:pt x="1264" y="3756"/>
                  <a:pt x="0" y="2944"/>
                  <a:pt x="0" y="1972"/>
                </a:cubicBezTo>
                <a:cubicBezTo>
                  <a:pt x="0" y="1000"/>
                  <a:pt x="1264" y="189"/>
                  <a:pt x="2945" y="1"/>
                </a:cubicBezTo>
                <a:lnTo>
                  <a:pt x="2954" y="0"/>
                </a:lnTo>
                <a:close/>
              </a:path>
            </a:pathLst>
          </a:custGeom>
          <a:gradFill>
            <a:gsLst>
              <a:gs pos="67000">
                <a:srgbClr val="FFFFFF">
                  <a:alpha val="0"/>
                </a:srgbClr>
              </a:gs>
              <a:gs pos="0">
                <a:schemeClr val="bg1">
                  <a:lumMod val="85000"/>
                  <a:alpha val="44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accent1"/>
          </a:solidFill>
          <a:effectLst/>
          <a:uFill>
            <a:solidFill>
              <a:schemeClr val="accent1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tags" Target="../tags/tag7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7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7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8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8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8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8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8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占位符 5"/>
          <p:cNvSpPr>
            <a:spLocks noGrp="1"/>
          </p:cNvSpPr>
          <p:nvPr>
            <p:ph type="body" sz="quarter" idx="17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xxx</a:t>
            </a:r>
            <a:endParaRPr lang="en-US" altLang="zh-CN"/>
          </a:p>
        </p:txBody>
      </p:sp>
      <p:sp>
        <p:nvSpPr>
          <p:cNvPr id="4" name="标题 3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zh-CN" altLang="en-US" sz="4400"/>
              <a:t>量化报告</a:t>
            </a:r>
            <a:endParaRPr lang="zh-CN" altLang="en-US" sz="440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5285" y="1866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技术框架</a:t>
            </a:r>
            <a:endParaRPr lang="zh-CN" altLang="en-US" sz="2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285" y="2060575"/>
            <a:ext cx="5633720" cy="461899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375285" y="791845"/>
            <a:ext cx="11343005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b="1">
                <a:sym typeface="+mn-ea"/>
              </a:rPr>
              <a:t>PT2E</a:t>
            </a: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PyTorch 2 Export Quantization</a:t>
            </a:r>
            <a:r>
              <a:rPr lang="zh-CN" altLang="en-US" b="1">
                <a:sym typeface="+mn-ea"/>
              </a:rPr>
              <a:t>）</a:t>
            </a:r>
            <a:r>
              <a:rPr lang="zh-CN" altLang="en-US">
                <a:sym typeface="+mn-ea"/>
              </a:rPr>
              <a:t>是</a:t>
            </a:r>
            <a:r>
              <a:rPr lang="en-US">
                <a:sym typeface="+mn-ea"/>
              </a:rPr>
              <a:t>Pytorch2</a:t>
            </a:r>
            <a:r>
              <a:rPr lang="zh-CN" altLang="en-US">
                <a:sym typeface="+mn-ea"/>
              </a:rPr>
              <a:t>引入的</a:t>
            </a:r>
            <a:r>
              <a:rPr lang="zh-CN" altLang="en-US" b="1">
                <a:sym typeface="+mn-ea"/>
              </a:rPr>
              <a:t>图级量化</a:t>
            </a:r>
            <a:r>
              <a:rPr lang="zh-CN" altLang="en-US">
                <a:sym typeface="+mn-ea"/>
              </a:rPr>
              <a:t>工作流。先用</a:t>
            </a:r>
            <a:r>
              <a:rPr lang="en-US" altLang="zh-CN">
                <a:sym typeface="+mn-ea"/>
              </a:rPr>
              <a:t> torch.export </a:t>
            </a:r>
            <a:r>
              <a:rPr lang="zh-CN" altLang="en-US">
                <a:sym typeface="+mn-ea"/>
              </a:rPr>
              <a:t>把模型捕获成</a:t>
            </a:r>
            <a:r>
              <a:rPr lang="en-US" altLang="zh-CN">
                <a:sym typeface="+mn-ea"/>
              </a:rPr>
              <a:t> ATen </a:t>
            </a:r>
            <a:r>
              <a:rPr lang="zh-CN" altLang="en-US">
                <a:sym typeface="+mn-ea"/>
              </a:rPr>
              <a:t>图，然后在</a:t>
            </a:r>
            <a:r>
              <a:rPr lang="en-US" altLang="zh-CN">
                <a:sym typeface="+mn-ea"/>
              </a:rPr>
              <a:t> prepare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calibrate/train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convert </a:t>
            </a:r>
            <a:r>
              <a:rPr lang="zh-CN" altLang="en-US">
                <a:sym typeface="+mn-ea"/>
              </a:rPr>
              <a:t>三阶段完成量化。与</a:t>
            </a:r>
            <a:r>
              <a:rPr lang="en-US" altLang="zh-CN">
                <a:sym typeface="+mn-ea"/>
              </a:rPr>
              <a:t> FX </a:t>
            </a:r>
            <a:r>
              <a:rPr lang="zh-CN" altLang="en-US">
                <a:sym typeface="+mn-ea"/>
              </a:rPr>
              <a:t>图模式量化相比，此流程具有</a:t>
            </a:r>
            <a:r>
              <a:rPr lang="zh-CN" altLang="en-US" b="1">
                <a:sym typeface="+mn-ea"/>
              </a:rPr>
              <a:t>显著更高的模型覆盖率</a:t>
            </a:r>
            <a:r>
              <a:rPr lang="zh-CN" altLang="en-US">
                <a:sym typeface="+mn-ea"/>
              </a:rPr>
              <a:t>（在</a:t>
            </a:r>
            <a:r>
              <a:rPr lang="en-US" altLang="zh-CN">
                <a:sym typeface="+mn-ea"/>
              </a:rPr>
              <a:t> 14,000 </a:t>
            </a:r>
            <a:r>
              <a:rPr lang="zh-CN" altLang="en-US">
                <a:sym typeface="+mn-ea"/>
              </a:rPr>
              <a:t>个模型中达到</a:t>
            </a:r>
            <a:r>
              <a:rPr lang="en-US" altLang="zh-CN">
                <a:sym typeface="+mn-ea"/>
              </a:rPr>
              <a:t> 88%</a:t>
            </a:r>
            <a:r>
              <a:rPr lang="zh-CN" altLang="en-US">
                <a:sym typeface="+mn-ea"/>
              </a:rPr>
              <a:t>）、</a:t>
            </a:r>
            <a:r>
              <a:rPr lang="zh-CN" altLang="en-US" b="1">
                <a:sym typeface="+mn-ea"/>
              </a:rPr>
              <a:t>更好的可编程性</a:t>
            </a:r>
            <a:r>
              <a:rPr lang="zh-CN" altLang="en-US">
                <a:sym typeface="+mn-ea"/>
              </a:rPr>
              <a:t>以及</a:t>
            </a:r>
            <a:r>
              <a:rPr lang="zh-CN" altLang="en-US" b="1">
                <a:sym typeface="+mn-ea"/>
              </a:rPr>
              <a:t>更简化的用户体验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5285" y="1866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量化结果</a:t>
            </a:r>
            <a:r>
              <a:rPr lang="en-US" altLang="zh-CN" sz="2400"/>
              <a:t> - PTQ</a:t>
            </a:r>
            <a:endParaRPr lang="en-US" altLang="zh-CN" sz="2400"/>
          </a:p>
        </p:txBody>
      </p:sp>
      <p:sp>
        <p:nvSpPr>
          <p:cNvPr id="3" name="文本框 2"/>
          <p:cNvSpPr txBox="1"/>
          <p:nvPr/>
        </p:nvSpPr>
        <p:spPr>
          <a:xfrm>
            <a:off x="375285" y="9448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W8Only</a:t>
            </a:r>
            <a:endParaRPr lang="en-US" altLang="zh-CN"/>
          </a:p>
        </p:txBody>
      </p:sp>
      <p:graphicFrame>
        <p:nvGraphicFramePr>
          <p:cNvPr id="7" name="表格 6"/>
          <p:cNvGraphicFramePr/>
          <p:nvPr/>
        </p:nvGraphicFramePr>
        <p:xfrm>
          <a:off x="375285" y="1459230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FP32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Int8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Δ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-17.12dB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-17.01dB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+0.11dB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-7.71dB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-7.40dB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+0.31dB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-6.89dB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-6.94dB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-0.05dB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-7.95dB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-7.98dB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Calibri" panose="020F0502020204030204"/>
                          <a:ea typeface="宋体" panose="02010600030101010101" pitchFamily="2" charset="-122"/>
                        </a:rPr>
                        <a:t>-0.03dB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75285" y="3772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W8A8</a:t>
            </a:r>
            <a:endParaRPr lang="en-US" altLang="zh-CN"/>
          </a:p>
        </p:txBody>
      </p:sp>
      <p:graphicFrame>
        <p:nvGraphicFramePr>
          <p:cNvPr id="10" name="表格 9"/>
          <p:cNvGraphicFramePr/>
          <p:nvPr/>
        </p:nvGraphicFramePr>
        <p:xfrm>
          <a:off x="375285" y="4286885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FP32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Int8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Δ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-17.12dB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-16.97dB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+0.15dB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-7.71dB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-7.40dB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+0.31dB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-6.89dB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-6.94dB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-0.04dB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-7.95dB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-7.98dB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Calibri" panose="020F0502020204030204"/>
                          <a:ea typeface="宋体" panose="02010600030101010101" pitchFamily="2" charset="-122"/>
                        </a:rPr>
                        <a:t>-0.03dB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5285" y="1866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量化结果</a:t>
            </a:r>
            <a:r>
              <a:rPr lang="en-US" altLang="zh-CN" sz="2400"/>
              <a:t> - PTQ</a:t>
            </a:r>
            <a:endParaRPr lang="en-US" altLang="zh-CN" sz="2400"/>
          </a:p>
        </p:txBody>
      </p:sp>
      <p:sp>
        <p:nvSpPr>
          <p:cNvPr id="3" name="文本框 2"/>
          <p:cNvSpPr txBox="1"/>
          <p:nvPr/>
        </p:nvSpPr>
        <p:spPr>
          <a:xfrm>
            <a:off x="375285" y="9448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A8Only</a:t>
            </a:r>
            <a:endParaRPr lang="en-US" altLang="zh-CN"/>
          </a:p>
        </p:txBody>
      </p:sp>
      <p:graphicFrame>
        <p:nvGraphicFramePr>
          <p:cNvPr id="7" name="表格 6"/>
          <p:cNvGraphicFramePr/>
          <p:nvPr/>
        </p:nvGraphicFramePr>
        <p:xfrm>
          <a:off x="375285" y="1459230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FP32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Int8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Δ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-17.12dB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-16.99dB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+0.13dB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-7.71dB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-7.41dB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+0.31dB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-6.89dB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-6.94dB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-0.05dB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-7.95dB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-7.98dB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Calibri" panose="020F0502020204030204"/>
                          <a:ea typeface="宋体" panose="02010600030101010101" pitchFamily="2" charset="-122"/>
                        </a:rPr>
                        <a:t>-0.03dB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75285" y="3772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AFP8Only</a:t>
            </a:r>
            <a:endParaRPr lang="en-US" altLang="zh-CN"/>
          </a:p>
        </p:txBody>
      </p:sp>
      <p:graphicFrame>
        <p:nvGraphicFramePr>
          <p:cNvPr id="10" name="表格 9"/>
          <p:cNvGraphicFramePr/>
          <p:nvPr/>
        </p:nvGraphicFramePr>
        <p:xfrm>
          <a:off x="375285" y="4286885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FP32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Int8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Δ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-17.12dB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-16.84dB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+0.29dB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-7.71dB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-7.39dB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+0.32dB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-6.89dB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-6.93dB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-0.04dB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-7.95dB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-7.96dB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Calibri" panose="020F0502020204030204"/>
                          <a:ea typeface="宋体" panose="02010600030101010101" pitchFamily="2" charset="-122"/>
                        </a:rPr>
                        <a:t>-0.01dB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5285" y="1866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量化结果</a:t>
            </a:r>
            <a:r>
              <a:rPr lang="en-US" altLang="zh-CN" sz="2400"/>
              <a:t> - PTQ</a:t>
            </a:r>
            <a:endParaRPr lang="en-US" altLang="zh-CN" sz="2400"/>
          </a:p>
        </p:txBody>
      </p:sp>
      <p:sp>
        <p:nvSpPr>
          <p:cNvPr id="3" name="文本框 2"/>
          <p:cNvSpPr txBox="1"/>
          <p:nvPr/>
        </p:nvSpPr>
        <p:spPr>
          <a:xfrm>
            <a:off x="375285" y="9448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W8AFP8</a:t>
            </a:r>
            <a:endParaRPr lang="en-US" altLang="zh-CN"/>
          </a:p>
        </p:txBody>
      </p:sp>
      <p:graphicFrame>
        <p:nvGraphicFramePr>
          <p:cNvPr id="7" name="表格 6"/>
          <p:cNvGraphicFramePr/>
          <p:nvPr/>
        </p:nvGraphicFramePr>
        <p:xfrm>
          <a:off x="375285" y="1459230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FP32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Int8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Δ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-17.12dB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-16.82dB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+0.30dB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-7.71dB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-7.39dB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+0.32dB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-6.89dB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-6.93dB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-0.03dB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-7.95dB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-7.96dB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Calibri" panose="020F0502020204030204"/>
                          <a:ea typeface="宋体" panose="02010600030101010101" pitchFamily="2" charset="-122"/>
                        </a:rPr>
                        <a:t>-0.01dB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75285" y="3772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W4Only</a:t>
            </a:r>
            <a:endParaRPr lang="en-US" altLang="zh-CN"/>
          </a:p>
        </p:txBody>
      </p:sp>
      <p:graphicFrame>
        <p:nvGraphicFramePr>
          <p:cNvPr id="10" name="表格 9"/>
          <p:cNvGraphicFramePr/>
          <p:nvPr/>
        </p:nvGraphicFramePr>
        <p:xfrm>
          <a:off x="375285" y="4286885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FP32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Int8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Δ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-17.12dB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-15.83dB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+1.30dB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-7.71dB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-7.17dB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+0.54dB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-6.89dB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-6.86dB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+0.03dB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-7.95dB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-7.87dB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Calibri" panose="020F0502020204030204"/>
                          <a:ea typeface="宋体" panose="02010600030101010101" pitchFamily="2" charset="-122"/>
                        </a:rPr>
                        <a:t>+0.08dB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5285" y="1866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量化结果</a:t>
            </a:r>
            <a:r>
              <a:rPr lang="en-US" altLang="zh-CN" sz="2400"/>
              <a:t> - PTQ</a:t>
            </a:r>
            <a:endParaRPr lang="en-US" altLang="zh-CN" sz="2400"/>
          </a:p>
        </p:txBody>
      </p:sp>
      <p:sp>
        <p:nvSpPr>
          <p:cNvPr id="3" name="文本框 2"/>
          <p:cNvSpPr txBox="1"/>
          <p:nvPr/>
        </p:nvSpPr>
        <p:spPr>
          <a:xfrm>
            <a:off x="375285" y="9448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W4A8</a:t>
            </a:r>
            <a:endParaRPr lang="en-US" altLang="zh-CN"/>
          </a:p>
        </p:txBody>
      </p:sp>
      <p:graphicFrame>
        <p:nvGraphicFramePr>
          <p:cNvPr id="7" name="表格 6"/>
          <p:cNvGraphicFramePr/>
          <p:nvPr/>
        </p:nvGraphicFramePr>
        <p:xfrm>
          <a:off x="375285" y="1459230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FP32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Int8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Δ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-17.12dB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-15.79dB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+1.33dB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-7.71dB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-7.17dB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+0.54dB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-6.89dB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-6.86dB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+0.03dB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-7.95dB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-7.87dB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Calibri" panose="020F0502020204030204"/>
                          <a:ea typeface="宋体" panose="02010600030101010101" pitchFamily="2" charset="-122"/>
                        </a:rPr>
                        <a:t>+0.08dB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75285" y="3772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W4AFP8</a:t>
            </a:r>
            <a:endParaRPr lang="en-US" altLang="zh-CN"/>
          </a:p>
        </p:txBody>
      </p:sp>
      <p:graphicFrame>
        <p:nvGraphicFramePr>
          <p:cNvPr id="10" name="表格 9"/>
          <p:cNvGraphicFramePr/>
          <p:nvPr/>
        </p:nvGraphicFramePr>
        <p:xfrm>
          <a:off x="375285" y="4286885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FP32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Int8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Δ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-17.12dB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-15.69dB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+1.44dB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-7.71dB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-7.16dB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+0.56dB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-6.89dB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-6.85dB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+0.05dB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-7.95dB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-7.85dB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Calibri" panose="020F0502020204030204"/>
                          <a:ea typeface="宋体" panose="02010600030101010101" pitchFamily="2" charset="-122"/>
                        </a:rPr>
                        <a:t>+0.10dB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5285" y="1866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量化结果</a:t>
            </a:r>
            <a:r>
              <a:rPr lang="en-US" altLang="zh-CN" sz="2400"/>
              <a:t> - PTQ</a:t>
            </a:r>
            <a:endParaRPr lang="en-US" altLang="zh-CN" sz="2400"/>
          </a:p>
        </p:txBody>
      </p:sp>
      <p:sp>
        <p:nvSpPr>
          <p:cNvPr id="3" name="文本框 2"/>
          <p:cNvSpPr txBox="1"/>
          <p:nvPr/>
        </p:nvSpPr>
        <p:spPr>
          <a:xfrm>
            <a:off x="375285" y="9448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W2Only</a:t>
            </a:r>
            <a:endParaRPr lang="en-US" altLang="zh-CN"/>
          </a:p>
        </p:txBody>
      </p:sp>
      <p:graphicFrame>
        <p:nvGraphicFramePr>
          <p:cNvPr id="7" name="表格 6"/>
          <p:cNvGraphicFramePr/>
          <p:nvPr/>
        </p:nvGraphicFramePr>
        <p:xfrm>
          <a:off x="375285" y="1459230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FP32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Int8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Δ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-17.12dB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-4.40dB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+12.73dB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-7.71dB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-4.40dB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+3.31dB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-6.89dB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-5.35dB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+1.55dB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-7.95dB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-5.00dB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Calibri" panose="020F0502020204030204"/>
                          <a:ea typeface="宋体" panose="02010600030101010101" pitchFamily="2" charset="-122"/>
                        </a:rPr>
                        <a:t>+2.95dB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75285" y="3772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W2A8</a:t>
            </a:r>
            <a:endParaRPr lang="en-US" altLang="zh-CN"/>
          </a:p>
        </p:txBody>
      </p:sp>
      <p:graphicFrame>
        <p:nvGraphicFramePr>
          <p:cNvPr id="5" name="表格 4"/>
          <p:cNvGraphicFramePr/>
          <p:nvPr/>
        </p:nvGraphicFramePr>
        <p:xfrm>
          <a:off x="375285" y="4286885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FP32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Int8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Δ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-17.12dB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-4.39dB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+12.73dB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-7.71dB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-4.39dB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+3.32dB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-6.89dB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-5.35dB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+1.55dB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-7.95dB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-5.00dB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Calibri" panose="020F0502020204030204"/>
                          <a:ea typeface="宋体" panose="02010600030101010101" pitchFamily="2" charset="-122"/>
                        </a:rPr>
                        <a:t>+2.96dB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5285" y="1866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量化结果</a:t>
            </a:r>
            <a:r>
              <a:rPr lang="en-US" altLang="zh-CN" sz="2400"/>
              <a:t> - PTQ</a:t>
            </a:r>
            <a:endParaRPr lang="en-US" altLang="zh-CN" sz="2400"/>
          </a:p>
        </p:txBody>
      </p:sp>
      <p:sp>
        <p:nvSpPr>
          <p:cNvPr id="3" name="文本框 2"/>
          <p:cNvSpPr txBox="1"/>
          <p:nvPr/>
        </p:nvSpPr>
        <p:spPr>
          <a:xfrm>
            <a:off x="375285" y="9448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W2AFP8</a:t>
            </a:r>
            <a:endParaRPr lang="en-US" altLang="zh-CN"/>
          </a:p>
        </p:txBody>
      </p:sp>
      <p:graphicFrame>
        <p:nvGraphicFramePr>
          <p:cNvPr id="7" name="表格 6"/>
          <p:cNvGraphicFramePr/>
          <p:nvPr/>
        </p:nvGraphicFramePr>
        <p:xfrm>
          <a:off x="375285" y="1459230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FP32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Int8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Δ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-17.12dB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-4.39dB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+12.73dB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-7.71dB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-4.39dB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+3.32dB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-6.89dB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-5.34dB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+1.55dB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-7.95dB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-4.99dB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Calibri" panose="020F0502020204030204"/>
                          <a:ea typeface="宋体" panose="02010600030101010101" pitchFamily="2" charset="-122"/>
                        </a:rPr>
                        <a:t>+2.96dB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5285" y="1866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量化结果</a:t>
            </a:r>
            <a:r>
              <a:rPr lang="en-US" altLang="zh-CN" sz="2400"/>
              <a:t> - QAT</a:t>
            </a:r>
            <a:endParaRPr lang="en-US" altLang="zh-CN" sz="2400"/>
          </a:p>
        </p:txBody>
      </p:sp>
      <p:sp>
        <p:nvSpPr>
          <p:cNvPr id="3" name="文本框 2"/>
          <p:cNvSpPr txBox="1"/>
          <p:nvPr/>
        </p:nvSpPr>
        <p:spPr>
          <a:xfrm>
            <a:off x="375285" y="9448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W8Only</a:t>
            </a:r>
            <a:endParaRPr lang="en-US" altLang="zh-CN"/>
          </a:p>
        </p:txBody>
      </p:sp>
      <p:graphicFrame>
        <p:nvGraphicFramePr>
          <p:cNvPr id="7" name="表格 6"/>
          <p:cNvGraphicFramePr/>
          <p:nvPr/>
        </p:nvGraphicFramePr>
        <p:xfrm>
          <a:off x="375285" y="1459230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FP32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Int8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Δ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-17.12dB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-12.76dB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+4.36dB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-7.71dB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-7.69dB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+0.03dB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-6.89dB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-6.99dB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-0.09dB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-7.95dB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-7.70dB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Calibri" panose="020F0502020204030204"/>
                          <a:ea typeface="宋体" panose="02010600030101010101" pitchFamily="2" charset="-122"/>
                        </a:rPr>
                        <a:t>+0.25dB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75285" y="3772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W8A8</a:t>
            </a:r>
            <a:endParaRPr lang="en-US" altLang="zh-CN"/>
          </a:p>
        </p:txBody>
      </p:sp>
      <p:graphicFrame>
        <p:nvGraphicFramePr>
          <p:cNvPr id="5" name="表格 4"/>
          <p:cNvGraphicFramePr/>
          <p:nvPr/>
        </p:nvGraphicFramePr>
        <p:xfrm>
          <a:off x="375285" y="4286885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FP32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Int8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Δ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-17.12dB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-12.83dB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+4.29dB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-7.71dB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-7.64dB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+0.07dB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-6.89dB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-6.91dB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-0.02dB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-7.95dB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-7.73dB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Calibri" panose="020F0502020204030204"/>
                          <a:ea typeface="宋体" panose="02010600030101010101" pitchFamily="2" charset="-122"/>
                        </a:rPr>
                        <a:t>+0.22dB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5285" y="1866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量化结果</a:t>
            </a:r>
            <a:r>
              <a:rPr lang="en-US" altLang="zh-CN" sz="2400"/>
              <a:t> - QAT</a:t>
            </a:r>
            <a:endParaRPr lang="en-US" altLang="zh-CN" sz="2400"/>
          </a:p>
        </p:txBody>
      </p:sp>
      <p:sp>
        <p:nvSpPr>
          <p:cNvPr id="3" name="文本框 2"/>
          <p:cNvSpPr txBox="1"/>
          <p:nvPr/>
        </p:nvSpPr>
        <p:spPr>
          <a:xfrm>
            <a:off x="375285" y="9448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W2Only</a:t>
            </a:r>
            <a:endParaRPr lang="en-US" altLang="zh-CN"/>
          </a:p>
        </p:txBody>
      </p:sp>
      <p:graphicFrame>
        <p:nvGraphicFramePr>
          <p:cNvPr id="7" name="表格 6"/>
          <p:cNvGraphicFramePr/>
          <p:nvPr/>
        </p:nvGraphicFramePr>
        <p:xfrm>
          <a:off x="375285" y="1459230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FP32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Int8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Δ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-17.12dB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-10.35dB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+6.77dB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-7.71dB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-6.90dB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+0.81dB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-6.89dB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-6.47dB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+0.43dB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-7.95dB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-6.90dB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Calibri" panose="020F0502020204030204"/>
                          <a:ea typeface="宋体" panose="02010600030101010101" pitchFamily="2" charset="-122"/>
                        </a:rPr>
                        <a:t>+1.05dB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75285" y="3772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W2A8</a:t>
            </a:r>
            <a:endParaRPr lang="en-US" altLang="zh-CN"/>
          </a:p>
        </p:txBody>
      </p:sp>
      <p:graphicFrame>
        <p:nvGraphicFramePr>
          <p:cNvPr id="5" name="表格 4"/>
          <p:cNvGraphicFramePr/>
          <p:nvPr/>
        </p:nvGraphicFramePr>
        <p:xfrm>
          <a:off x="375285" y="4286885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FP32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Int8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Δ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-17.12dB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-10.40dB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+6.72dB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-7.71dB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-6.96dB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+0.75dB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120km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-6.89dB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-6.55dB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+0.34dB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xkm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-7.95dB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-6.96dB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Calibri" panose="020F0502020204030204"/>
                          <a:ea typeface="宋体" panose="02010600030101010101" pitchFamily="2" charset="-122"/>
                        </a:rPr>
                        <a:t>+1.00dB</a:t>
                      </a:r>
                      <a:endParaRPr lang="en-US" altLang="zh-CN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b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0"/>
</p:tagLst>
</file>

<file path=ppt/tags/tag1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3"/>
</p:tagLst>
</file>

<file path=ppt/tags/tag1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7"/>
</p:tagLst>
</file>

<file path=ppt/tags/tag1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2"/>
</p:tagLst>
</file>

<file path=ppt/tags/tag29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2"/>
</p:tagLst>
</file>

<file path=ppt/tags/tag3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7"/>
</p:tagLst>
</file>

<file path=ppt/tags/tag3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32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3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7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文本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38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39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文本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40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4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5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4.xml><?xml version="1.0" encoding="utf-8"?>
<p:tagLst xmlns:p="http://schemas.openxmlformats.org/presentationml/2006/main">
  <p:tag name="KSO_WM_UNIT_TYPE" val="f"/>
  <p:tag name="KSO_WM_UNIT_SUBTYPE" val="c"/>
  <p:tag name="KSO_WM_UNIT_INDEX" val="2"/>
  <p:tag name="KSO_WM_BEAUTIFY_FLAG" val="#wm#"/>
  <p:tag name="KSO_WM_TAG_VERSION" val="3.0"/>
  <p:tag name="KSO_WM_UNIT_PRESET_TEXT" val="日期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65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6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40495008"/>
</p:tagLst>
</file>

<file path=ppt/tags/tag7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5008"/>
</p:tagLst>
</file>

<file path=ppt/tags/tag7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40495008"/>
  <p:tag name="KSO_WM_TEMPLATE_CATEGORY" val="custom"/>
  <p:tag name="KSO_WM_TEMPLATE_MASTER_TYPE" val="0"/>
</p:tagLst>
</file>

<file path=ppt/tags/tag7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0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3"/>
  <p:tag name="KSO_WM_UNIT_TYPE" val="a"/>
  <p:tag name="KSO_WM_UNIT_INDEX" val="1"/>
</p:tagLst>
</file>

<file path=ppt/tags/tag76.xml><?xml version="1.0" encoding="utf-8"?>
<p:tagLst xmlns:p="http://schemas.openxmlformats.org/presentationml/2006/main">
  <p:tag name="KSO_WM_SLIDE_ID" val="custom40495008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08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SLIDE_THEME_ID" val="3427636"/>
  <p:tag name="KSO_WM_SLIDE_THEME_NAME" val="极简大气汇报模板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08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40495008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08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40495008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08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40495008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08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40495008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08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极简大气汇报模板">
  <a:themeElements>
    <a:clrScheme name="自定义 22">
      <a:dk1>
        <a:srgbClr val="000000"/>
      </a:dk1>
      <a:lt1>
        <a:srgbClr val="FFFFFF"/>
      </a:lt1>
      <a:dk2>
        <a:srgbClr val="041D4B"/>
      </a:dk2>
      <a:lt2>
        <a:srgbClr val="F6F9FF"/>
      </a:lt2>
      <a:accent1>
        <a:srgbClr val="3333FF"/>
      </a:accent1>
      <a:accent2>
        <a:srgbClr val="2690EC"/>
      </a:accent2>
      <a:accent3>
        <a:srgbClr val="13A6E5"/>
      </a:accent3>
      <a:accent4>
        <a:srgbClr val="00BDDE"/>
      </a:accent4>
      <a:accent5>
        <a:srgbClr val="24D3BA"/>
      </a:accent5>
      <a:accent6>
        <a:srgbClr val="55DD95"/>
      </a:accent6>
      <a:hlink>
        <a:srgbClr val="0563C1"/>
      </a:hlink>
      <a:folHlink>
        <a:srgbClr val="954D72"/>
      </a:folHlink>
    </a:clrScheme>
    <a:fontScheme name="简约风/商务风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2043</Words>
  <Application>WPS 演示</Application>
  <PresentationFormat>宽屏</PresentationFormat>
  <Paragraphs>624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Arial Unicode MS</vt:lpstr>
      <vt:lpstr>Calibri</vt:lpstr>
      <vt:lpstr>微软雅黑</vt:lpstr>
      <vt:lpstr>Wingdings</vt:lpstr>
      <vt:lpstr>MiSans Demibold</vt:lpstr>
      <vt:lpstr>Calibri</vt:lpstr>
      <vt:lpstr>Office 主题</vt:lpstr>
      <vt:lpstr>WPS</vt:lpstr>
      <vt:lpstr>极简大气汇报模板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MSI-NB</dc:creator>
  <cp:lastModifiedBy>小荔枝</cp:lastModifiedBy>
  <cp:revision>56</cp:revision>
  <dcterms:created xsi:type="dcterms:W3CDTF">2023-08-09T12:44:00Z</dcterms:created>
  <dcterms:modified xsi:type="dcterms:W3CDTF">2026-01-12T03:04:26Z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12E627D52ED6482DAF28CC77644A1A6F_12</vt:lpwstr>
  </property>
</Properties>
</file>